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NEE</c:v>
                </c:pt>
              </c:strCache>
            </c:strRef>
          </c:tx>
          <c:spPr>
            <a:solidFill>
              <a:srgbClr val="C6A6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A2A2A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-16.1</c:v>
                </c:pt>
                <c:pt idx="1">
                  <c:v>-19.9</c:v>
                </c:pt>
                <c:pt idx="2">
                  <c:v>-11.2</c:v>
                </c:pt>
                <c:pt idx="3">
                  <c:v>-17.9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2A2A2A"/>
                  </a:solidFill>
                  <a:latin typeface="Helvetic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22"/>
        </c:scaling>
        <c:delete val="0"/>
        <c:axPos val="l"/>
        <c:majorGridlines>
          <c:spPr>
            <a:ln w="6350" cap="flat">
              <a:solidFill>
                <a:srgbClr val="E5DFC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07070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AF8F3"/>
        </a:solidFill>
        <a:ln>
          <a:noFill/>
        </a:ln>
        <a:effectLst/>
      </c:spPr>
    </c:plotArea>
    <c:plotVisOnly val="1"/>
    <c:dispBlanksAs val="span"/>
  </c:chart>
  <c:spPr>
    <a:solidFill>
      <a:srgbClr val="FAF8F3"/>
    </a:solidFill>
    <a:ln w="12700" cap="flat">
      <a:solidFill>
        <a:srgbClr val="FAF8F3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5022"/>
            <a:ext cx="11094415" cy="7315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76895" y="502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ISLAMIC FINANCE EDITION</a:t>
            </a:r>
            <a:endParaRPr lang="en-US" sz="900" dirty="0"/>
          </a:p>
        </p:txBody>
      </p:sp>
      <p:pic>
        <p:nvPicPr>
          <p:cNvPr id="4" name="Image 0" descr="/mnt/user-data/uploads/TenTrinityCarbon-logo-go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688" y="13716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34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INTRODUCTION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measurement.   Takaful permanence.   Institutional integrity.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6077102"/>
            <a:ext cx="11094415" cy="7315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Guernsey, Channel Islands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691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554480" y="260604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measurement removes gharar from the credit.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54480" y="352044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Takaful removes it from the protection.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54480" y="452628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Together, the standard.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54480" y="5663794"/>
            <a:ext cx="457200" cy="10973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TENTRINITY CARBON   /   METHODOLOGY AND RISK 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MANIFESTO   / 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PROPOSITION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different standard for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Shariah-compliant capital.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783080" y="2990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measurement.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301752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Atmospheric carbon flux is measured, not modelled. Net-removal performance is evidenced by science, calibrated to physical reality, and disclosed with quantified uncertainty. Lower gharar exposure under fiqh.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83080" y="4066794"/>
            <a:ext cx="9859975" cy="4572"/>
          </a:xfrm>
          <a:prstGeom prst="rect">
            <a:avLst/>
          </a:prstGeom>
          <a:solidFill>
            <a:srgbClr val="D8D2BD"/>
          </a:solidFill>
          <a:ln w="12700">
            <a:solidFill>
              <a:srgbClr val="D8D2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319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783080" y="4087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Takaful permanence.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Cooperative risk-transfer through a Wakala-Mudaraba pool. Lloyd's syndicate capacity sourced via Shariah-compliant fronting and Managing General Agent arrangements, with dedicated Retakaful providers.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83080" y="5164074"/>
            <a:ext cx="9859975" cy="4572"/>
          </a:xfrm>
          <a:prstGeom prst="rect">
            <a:avLst/>
          </a:prstGeom>
          <a:solidFill>
            <a:srgbClr val="D8D2BD"/>
          </a:solidFill>
          <a:ln w="12700">
            <a:solidFill>
              <a:srgbClr val="D8D2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0292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783080" y="5184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Institutional integrity.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5212080"/>
            <a:ext cx="6522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independent Shariah Supervisory Board hosted within a dedicated Guernsey subsidiary. Continuous oversight under AAOIFI standards, applied at origination, structuring, and distribution.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783080" y="6261354"/>
            <a:ext cx="9859975" cy="4572"/>
          </a:xfrm>
          <a:prstGeom prst="rect">
            <a:avLst/>
          </a:prstGeom>
          <a:solidFill>
            <a:srgbClr val="D8D2BD"/>
          </a:solidFill>
          <a:ln w="12700">
            <a:solidFill>
              <a:srgbClr val="D8D2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PROPOSITION   / 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at scale.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BC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High-integrity nature-based carbon, structured for institutional volume.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700k+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434840" y="3364992"/>
            <a:ext cx="4572" cy="457200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347472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hectares  ·  authorised area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57523"/>
            <a:ext cx="11094415" cy="3658"/>
          </a:xfrm>
          <a:prstGeom prst="rect">
            <a:avLst/>
          </a:prstGeom>
          <a:solidFill>
            <a:srgbClr val="2A4838"/>
          </a:solidFill>
          <a:ln w="12700">
            <a:solidFill>
              <a:srgbClr val="2A4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M+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4434840" y="4142232"/>
            <a:ext cx="4572" cy="457200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425196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 ·  Shabunda  ·  immediate availability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34763"/>
            <a:ext cx="11094415" cy="3658"/>
          </a:xfrm>
          <a:prstGeom prst="rect">
            <a:avLst/>
          </a:prstGeom>
          <a:solidFill>
            <a:srgbClr val="2A4838"/>
          </a:solidFill>
          <a:ln w="12700">
            <a:solidFill>
              <a:srgbClr val="2A4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54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M+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4434840" y="4919472"/>
            <a:ext cx="4572" cy="457200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502920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 ·  Gabon  ·  forward delivery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512003"/>
            <a:ext cx="11094415" cy="3658"/>
          </a:xfrm>
          <a:prstGeom prst="rect">
            <a:avLst/>
          </a:prstGeom>
          <a:solidFill>
            <a:srgbClr val="2A4838"/>
          </a:solidFill>
          <a:ln w="12700">
            <a:solidFill>
              <a:srgbClr val="2A4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32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Lloyd's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4434840" y="5696712"/>
            <a:ext cx="4572" cy="457200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5806440"/>
            <a:ext cx="7025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syndicate capacity  ·  Performance Takaful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  / 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NEW SCIENTIFIC METHODOLOGY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estimation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 measurement.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nature-based credits rely on modelling. The change is to anchor crediting around direct measurement of atmospheric carbon flux, a method auditable against physical reality.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6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ESTIMATION-FIRST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75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MEASUREMENT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4526280"/>
            <a:ext cx="4572" cy="1554480"/>
          </a:xfrm>
          <a:prstGeom prst="rect">
            <a:avLst/>
          </a:prstGeom>
          <a:solidFill>
            <a:srgbClr val="D8D2BD"/>
          </a:solidFill>
          <a:ln w="12700">
            <a:solidFill>
              <a:srgbClr val="D8D2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Modelled baselines and counterfactual scenarios.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4526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Atmospheric carbon flux measured, not inferred.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Infrequent sampling, extrapolated over long monitoring periods.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observation calibrated to physical frameworks.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biomass estimates that do not reflect real dynamics.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5440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Ground-based validation anchors performance to reality.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Higher methodology debate, higher gharar exposure.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5897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Lower gharar exposure; defensible to Shariah and audit.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   / 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TAKAFUL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Cooperative risk transfer,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for fiqh.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Buffer-pool conventions inherited from REDD+ are replaced by a mutually owned risk pool that operates under Wakala-Mudaraba principles. Capacity is sourced through Lloyd's syndicate participation via Shariah-compliant fronting and dedicated Retakaful providers.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4111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Tabarru'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4526280"/>
            <a:ext cx="8259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Donation-based contribution to the mutual risk pool.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8975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Wakala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5029200"/>
            <a:ext cx="8259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Agency arrangement. The Wakeel manages the pool for an agreed fee.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9267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Mudaraba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5532120"/>
            <a:ext cx="8259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Profit-sharing structure for surplus deployment.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89559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TAKAFUL   / 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ADDITIONALITY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to the maqasid.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deployed produces a real-economy outcome consistent with the objectives of the Shariah, with hifdh al-bi'ah (preservation of the natural environment) at the centre.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128" y="3243834"/>
            <a:ext cx="3291840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128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5128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RELIGION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5128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Stewardship (khilafah) of the natural order.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048" y="3243834"/>
            <a:ext cx="3291840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048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Nafs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67048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LIFE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7048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Climate stability supports human life and health.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8968" y="3243834"/>
            <a:ext cx="3291840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8968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'Aql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98968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INTELLECT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98968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measurement: science over speculation.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128" y="4752594"/>
            <a:ext cx="3291840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128" y="4846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Nasl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5128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128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Long-term ecosystem protection for future generations.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67048" y="4752594"/>
            <a:ext cx="3291840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7048" y="4846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267048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WEALTH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67048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ownership of verified real-asset carbon.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98968" y="4748479"/>
            <a:ext cx="3291840" cy="12802"/>
          </a:xfrm>
          <a:prstGeom prst="rect">
            <a:avLst/>
          </a:prstGeom>
          <a:solidFill>
            <a:srgbClr val="B8683A"/>
          </a:solidFill>
          <a:ln w="12700">
            <a:solidFill>
              <a:srgbClr val="B868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8968" y="4846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Bi'ah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98968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0707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98968" y="5669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Hifdh al-bi'ah: forest preservation as core objective.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MAQASID   / 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SHARIAH COMPLIANCE AND INTEGRITY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institutional framework.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23799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Additionality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2450592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causality and real-economy linkage. A measurable test, not a narrative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42082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0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measurement of atmospheric carbon flux.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00450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48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3721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767328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Independent third-party assessment under recognised standards.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8818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068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83080" y="4379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Transfer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63440" y="4425696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Cooperative Performance Takaful with Lloyd's-sourced capacity.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17186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965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83080" y="50383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63440" y="5084064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Shariah Subsidiary in Guernsey hosting an independent Supervisory 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57555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83080" y="5696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5742432"/>
            <a:ext cx="6979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AAOIFI, IFSB, recognised carbon-market standards.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233922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FRAMEWORK   / 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CARBON PRODUCTS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product categories.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institutional volume, scientifically robust, and structured for Shariah-compliant capital.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1276" y="3017520"/>
            <a:ext cx="4572" cy="3108960"/>
          </a:xfrm>
          <a:prstGeom prst="rect">
            <a:avLst/>
          </a:prstGeom>
          <a:solidFill>
            <a:srgbClr val="D8D2BD"/>
          </a:solidFill>
          <a:ln w="12700">
            <a:solidFill>
              <a:srgbClr val="D8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75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HIGH-INTEGRITY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531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E2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credits.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531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tonne of CO2e avoided or sequestered through rigorous, scientifically grounded project activity. Independently verified, ex-post, long-dated. Recognised under fiqh as bay' al-huquq al-ma'nawiyyah.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24448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324448" y="438912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75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48" y="4709160"/>
            <a:ext cx="531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E2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credits.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24448" y="5394960"/>
            <a:ext cx="531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issued in tokenised form for traceability, auditability, and settlement efficiency. Aligned with the asset-backed direction of the AAOIFI exposure draft of Shariah Standard 62 on Sukuk.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PRODUCTS   / 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  /  GEOGRAPHIC FOOTPRINT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active portfolio.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FLAGSHIP   ·   ACTIVE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Shabunda.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4BC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Democratic Republic of the Congo   ·   Congo Basin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200" kern="0" dirty="0">
                <a:solidFill>
                  <a:srgbClr val="B5B5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02° 41′ S    ·    27° 21′ 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 ·  immediate availability  ·  multi-decade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606040"/>
            <a:ext cx="4572" cy="3291840"/>
          </a:xfrm>
          <a:prstGeom prst="rect">
            <a:avLst/>
          </a:prstGeom>
          <a:solidFill>
            <a:srgbClr val="2A4838"/>
          </a:solidFill>
          <a:ln w="12700">
            <a:solidFill>
              <a:srgbClr val="2A4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6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  ·   FORWARD   ·   PROJECT 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Gabon.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465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86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Republic of Gabon   ·   Coastal forest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200" kern="0" dirty="0">
                <a:solidFill>
                  <a:srgbClr val="B5B5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00° 23′ N    ·    09° 27′ 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4526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M+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44652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 ·  forward delivery  ·  sovereign framework alignment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   /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 /  SHABUNDA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net-removal performance.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75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MEAN ANNUAL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0E2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−16.3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tCO2 ha⁻¹ yr⁻¹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343754"/>
            <a:ext cx="457200" cy="10973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486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Negative values indicate net removal of atmospheric carbon. Q2 marks the seasonal peak of net flux into the forest system.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75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QUARTERLY MEAN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352044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943600" y="6172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PEM Shabunda direct measurement carbon flux programme, 2001–2023. Indicative.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  /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Pathways forward.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TenTrinity Carbon engages with hyperscalers, corporates, Islamic financial institutions, sovereign wealth, Takaful operators, and family offices.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52394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Immediate procurement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2120" y="3383280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 purchase of verified credits with documentation and optional Performance Takaful.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11346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05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050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Forward and offtake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4096512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Long-dated agreements aligned with multi-year decarbonisation plans, with priority allocation.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24578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183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83080" y="4764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investment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4809744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Anchor offtake plus development capital, with governance, reporting, and oversight rights.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337810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4315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5477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Tokenised credits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5522976"/>
            <a:ext cx="6110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Credits delivered in tokenised form for traceability, lifecycle tracking, and settlement efficiency.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6051042"/>
            <a:ext cx="11094415" cy="4572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3409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8A8A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ENGAGEMENT   /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6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ISLAMIC FINANCE EDITION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950976"/>
            <a:ext cx="457200" cy="18288"/>
          </a:xfrm>
          <a:prstGeom prst="rect">
            <a:avLst/>
          </a:prstGeom>
          <a:solidFill>
            <a:srgbClr val="C6A664"/>
          </a:solidFill>
          <a:ln w="12700">
            <a:solidFill>
              <a:srgbClr val="C6A6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measurement.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Takaful permanence.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C6A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integrity.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5665622"/>
            <a:ext cx="11094415" cy="7315"/>
          </a:xfrm>
          <a:prstGeom prst="rect">
            <a:avLst/>
          </a:prstGeom>
          <a:solidFill>
            <a:srgbClr val="8C7544"/>
          </a:solidFill>
          <a:ln w="12700">
            <a:solidFill>
              <a:srgbClr val="8C7544"/>
            </a:solidFill>
            <a:prstDash val="solid"/>
          </a:ln>
        </p:spPr>
      </p:sp>
      <p:pic>
        <p:nvPicPr>
          <p:cNvPr id="8" name="Image 0" descr="/mnt/user-data/uploads/TenTrinityCarbon-logo-gold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52160"/>
            <a:ext cx="164592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05295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TenTrinity Carbon  ·  Guernsey, Channel Islands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05295" y="6172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division of TenTrinity Group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STRICTLY CONFIDENTIAL   ·   APRIL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5B5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© TENTRINITY CARBON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TenTrinity Carbon — An Introduction</dc:title>
  <dc:subject>PptxGenJS Presentation</dc:subject>
  <dc:creator>TenTrinity Carbon</dc:creator>
  <cp:lastModifiedBy>TenTrinity Carbon</cp:lastModifiedBy>
  <cp:revision>1</cp:revision>
  <dcterms:created xsi:type="dcterms:W3CDTF">2026-05-02T07:42:27Z</dcterms:created>
  <dcterms:modified xsi:type="dcterms:W3CDTF">2026-05-02T07:42:27Z</dcterms:modified>
</cp:coreProperties>
</file>